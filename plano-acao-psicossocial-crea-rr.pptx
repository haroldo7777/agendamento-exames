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33589af-2068-edb0-1166-afd6a477702c}">
          <p14:sldIdLst>
            <p14:sldId id="256"/>
          </p14:sldIdLst>
        </p14:section>
        <p14:section name="Diagnóstico" id="{919db14d-a5fe-f5d6-37ec-c8529c8fa06d}">
          <p14:sldIdLst>
            <p14:sldId id="257"/>
            <p14:sldId id="258"/>
            <p14:sldId id="259"/>
            <p14:sldId id="260"/>
          </p14:sldIdLst>
        </p14:section>
        <p14:section name="Plano de ação por risco" id="{1fd202ca-6b05-579a-5834-7fe25d7f894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Execução" id="{bf38059e-7155-d76a-e09e-fffcbea3a83f}">
          <p14:sldIdLst>
            <p14:sldId id="271"/>
            <p14:sldId id="272"/>
          </p14:sldIdLst>
        </p14:section>
        <p14:section name="Encerramento" id="{7077b957-ad4f-25f0-3bc5-9085ab804344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Probabilidade</c:v>
                </c:pt>
              </c:strCache>
            </c:strRef>
          </c:tx>
          <c:spPr>
            <a:solidFill>
              <a:srgbClr val="3E8E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8E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8E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8E5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E8E5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Limitação da expressão</c:v>
                  </c:pt>
                  <c:pt idx="1">
                    <c:v>Variação de turnos</c:v>
                  </c:pt>
                  <c:pt idx="2">
                    <c:v>Repressão emocional</c:v>
                  </c:pt>
                  <c:pt idx="3">
                    <c:v>Sobrecarga de trabalho mental</c:v>
                  </c:pt>
                  <c:pt idx="4">
                    <c:v>Sem pausas para descanso</c:v>
                  </c:pt>
                  <c:pt idx="5">
                    <c:v>Interrupções e interferências</c:v>
                  </c:pt>
                  <c:pt idx="6">
                    <c:v>Difícil comunicação</c:v>
                  </c:pt>
                  <c:pt idx="7">
                    <c:v>Ansiedade por decisões</c:v>
                  </c:pt>
                  <c:pt idx="8">
                    <c:v>Metas rigorosas de produção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2.3</c:v>
                </c:pt>
                <c:pt idx="1">
                  <c:v>7</c:v>
                </c:pt>
                <c:pt idx="2">
                  <c:v>7</c:v>
                </c:pt>
                <c:pt idx="3">
                  <c:v>9.3</c:v>
                </c:pt>
                <c:pt idx="4">
                  <c:v>11.6</c:v>
                </c:pt>
                <c:pt idx="5">
                  <c:v>11.6</c:v>
                </c:pt>
                <c:pt idx="6">
                  <c:v>14</c:v>
                </c:pt>
                <c:pt idx="7">
                  <c:v>18.6</c:v>
                </c:pt>
                <c:pt idx="8">
                  <c:v>18.6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8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Riscos</c:v>
                </c:pt>
              </c:strCache>
            </c:strRef>
          </c:tx>
          <c:spPr>
            <a:solidFill>
              <a:srgbClr val="2A7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Assessor(a) Técnico(a) - Geólogo</c:v>
                  </c:pt>
                  <c:pt idx="1">
                    <c:v>Procurador Jurídico</c:v>
                  </c:pt>
                  <c:pt idx="2">
                    <c:v>Estagiário (a)</c:v>
                  </c:pt>
                  <c:pt idx="3">
                    <c:v>Gerente de Fiscalização</c:v>
                  </c:pt>
                  <c:pt idx="4">
                    <c:v>Superintendente</c:v>
                  </c:pt>
                  <c:pt idx="5">
                    <c:v>Chefe de Contabilidade</c:v>
                  </c:pt>
                  <c:pt idx="6">
                    <c:v>Assessor (a)</c:v>
                  </c:pt>
                  <c:pt idx="7">
                    <c:v>Gerente Financeiro e Contábil</c:v>
                  </c:pt>
                  <c:pt idx="8">
                    <c:v>Assistente Administrativo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8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plano de ação construído a partir do relatório 'Resultados da Análise Psicossocial' do CREA-RR, emitido em 12/05/2026, metodologia ISTAS21-BR conforme NR-01.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Participação de 91,5% (43 de 47 empregados) confere boa representatividade ao diagnóstico. Nove riscos foram identificados, cinco deles com severidade Prejudicial. Todas as medidas estão com status 'Aguardando início' e responsáveis ainda a definir — este é o primeiro ponto do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com a probabilidade (percentual de respondentes expostos) de cada risco, colorido pela severidade atribuída no relatório. Metas rigorosas de produção e ansiedade por decisões complexas têm a maior incidência (18,6%, 8 de 43).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ordem de ataque. O relatório não define prioridade; o critério combina severidade e probabilidade. Sugestão: iniciar pelos três riscos de prioridade Alta nas duas primeiras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Contagem de quantos riscos listam cada função como exposta. O Assistente Administrativo aparece em todos os nove; Assessor(a) e Gerente Financeiro e Contábil em seis; Chefe de Contabilidade em cinco.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 com utilização rigorosa de metas de produção. Probabilidade 18,6% (8 de 43). Severidade: Prejudicial. Prioridade proposta: Alta. Medidas: Reavaliar as metas e prazos definidos, ajustando-os para níveis alcançáveis. Oferecer suporte direto por meio de reuniões periódicas para acompanhamento e esclarecimento de expectativas. Disponibilizar recursos adicionais ou treinamento específico para melhorar a gestão do tempo e das atividades.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 em condições de difícil comunicação. Probabilidade 14,0% (6 de 43). Severidade: Prejudicial. Prioridade proposta: Alta. Medidas: Definir claramente as responsabilidades e atribuições através de documentação ou reuniões periódicas. Oferecer treinamento regular sobre funções e expectativas relacionadas a cada cargo. Criar canais diretos e eficientes para esclarecer dúvidas ou solicitar orientações adicionais.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Interrupções e interferências no trabalho. Probabilidade 11,6% (5 de 43). Severidade: Prejudicial. Prioridade proposta: Alta. Medidas: Definir horários específicos para comunicação ou reuniões com a chefia, reduzindo interrupções injustificadas. Proporcionar treinamento aos líderes sobre gestão eficaz e comunicação assertiva. Estabelecer procedimentos claros para que interrupções ocorram somente em situações necessárias ou emergenciais.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Ansiedade por decisões complexas. Probabilidade 18,6% (8 de 43). Severidade: Levemente prejudicial. Prioridade proposta: Média. Medidas: Oferecer treinamento específico ou orientações práticas sobre como lidar com decisões complexas. Proporcionar suporte emocional ou aconselhamento psicológico disponível para situações que geram ansiedade. Realizar reuniões periódicas para revisar e simplificar processos decisórios complexos.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 realizado sem pausas pré-definidas para descanso. Probabilidade 11,6% (5 de 43). Severidade: Levemente prejudicial. Prioridade proposta: Média. Medidas: Revisar e reorganizar horários de trabalho, assegurando pausas periódicas adequadas. Promover treinamentos de conscientização para gestores sobre a importância das pausas para saúde e produtividade. Implementar mecanismos de monitoramento para garantir o cumprimento dos horários de descanso previstos.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Repressão emocional no ambiente de trabalho. Probabilidade 7,0% (3 de 43). Severidade: Prejudicial. Prioridade proposta: Média. Medidas: Promover treinamentos para líderes sobre gestão emocional e comunicação empática. Criar canais seguros e confidenciais para comunicação sobre insatisfações ou desconfortos emocionais. Incentivar reuniões periódicas para avaliar o ambiente emocional da equipe e identificar pontos críticos para intervenção.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 com necessidade de variação de turnos. Probabilidade 7,0% (3 de 43). Severidade: Prejudicial. Prioridade proposta: Média. Medidas: Estabelecer e respeitar políticas claras sobre mudanças de turno com antecedência mínima obrigatória. Capacitar gestores para gestão consciente da equipe e compreensão das implicações das mudanças inesperadas. Disponibilizar canais claros e seguros para reporte de abusos ou situações em que acordos pré-estabelecidos sejam descumpridos.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Situações de sobrecarga de trabalho mental. Probabilidade 9,3% (4 de 43). Severidade: Levemente prejudicial. Prioridade proposta: Baixa. Medidas: Estabelecer políticas claras sobre realização e comunicação antecipada de horas extras. Implementar controle rigoroso sobre jornada de trabalho, garantindo a comunicação prévia adequada. Disponibilizar canais confidenciais para reportar abusos ou irregularidades relacionadas à jornada de trabalho.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Limitação da expressão e participação. Probabilidade 2,3% (1 de 43). Severidade: Levemente prejudicial. Prioridade proposta: Baixa. Medidas: Promover reuniões periódicas para ouvir sugestões e opiniões da equipe sobre processos de trabalho. Implementar canais seguros e acessíveis para sugestões anônimas ou diretas. Treinar gestores para incentivar a participação ativa e valorização das contribuições dos funcionários. Prazo 60 dias; responsáveis a definir; status aguardando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27 medidas do relatório se repetem em quatro temas. Tratá-las como quatro frentes, com um responsável por frente, evita 27 iniciativas isoladas e facilita a cobrança do prazo de 60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cronograma dentro do prazo de 60 dias indicado no relatório. As fases seguem a priorização: riscos Alta primeiro, depois capacitação e canais, e por fim consolidação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com decisões: quem responde por cada frente, aprovação do cronograma e data do primeiro ponto de controle.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CREA-RR  ·  Plano de Ação – Riscos Psicossociais  ·  NR-01 / ISTAS21-BR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cudo círculo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3" name="Escud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65760" cy="36576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PLANO DE AÇÃO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Riscos Psicossociais no Trabalho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Resultados da Análise Psicossocial — CREA - RR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Metodologia ISTAS21-BR (NR-01)  ·  Emissão 12/05/2026  ·  Validade 12 meses</a:t>
            </a:r>
            <a:endParaRPr lang="en-US" sz="1800" dirty="0"/>
          </a:p>
        </p:txBody>
      </p:sp>
      <p:sp>
        <p:nvSpPr>
          <p:cNvPr id="7" name="CNPJ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CNPJ 02.929.034/0001-90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Visão geral do diagnóstico</a:t>
            </a:r>
            <a:endParaRPr lang="en-US" sz="2600" dirty="0"/>
          </a:p>
        </p:txBody>
      </p:sp>
      <p:sp>
        <p:nvSpPr>
          <p:cNvPr id="3" name="Card 1"/>
          <p:cNvSpPr/>
          <p:nvPr/>
        </p:nvSpPr>
        <p:spPr>
          <a:xfrm>
            <a:off x="457200" y="12801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Card 1 círculo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5" name="Card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77340"/>
            <a:ext cx="228600" cy="228600"/>
          </a:xfrm>
          <a:prstGeom prst="rect">
            <a:avLst/>
          </a:prstGeom>
        </p:spPr>
      </p:pic>
      <p:sp>
        <p:nvSpPr>
          <p:cNvPr id="6" name="Card 1 número"/>
          <p:cNvSpPr txBox="1"/>
          <p:nvPr/>
        </p:nvSpPr>
        <p:spPr>
          <a:xfrm>
            <a:off x="64008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91,5%</a:t>
            </a:r>
            <a:endParaRPr lang="en-US" sz="3600" dirty="0"/>
          </a:p>
        </p:txBody>
      </p:sp>
      <p:sp>
        <p:nvSpPr>
          <p:cNvPr id="7" name="Card 1 rótulo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 participação</a:t>
            </a:r>
            <a:endParaRPr lang="en-US" sz="1200" dirty="0"/>
          </a:p>
        </p:txBody>
      </p:sp>
      <p:sp>
        <p:nvSpPr>
          <p:cNvPr id="8" name="Card 1 subtítulo"/>
          <p:cNvSpPr txBox="1"/>
          <p:nvPr/>
        </p:nvSpPr>
        <p:spPr>
          <a:xfrm>
            <a:off x="640080" y="2761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43 de 47 empregados</a:t>
            </a:r>
            <a:endParaRPr lang="en-US" sz="1000" dirty="0"/>
          </a:p>
        </p:txBody>
      </p:sp>
      <p:sp>
        <p:nvSpPr>
          <p:cNvPr id="9" name="Card 2"/>
          <p:cNvSpPr/>
          <p:nvPr/>
        </p:nvSpPr>
        <p:spPr>
          <a:xfrm>
            <a:off x="2560320" y="12801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Card 2 círculo"/>
          <p:cNvSpPr/>
          <p:nvPr/>
        </p:nvSpPr>
        <p:spPr>
          <a:xfrm>
            <a:off x="2743200" y="14630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1" name="Card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577340"/>
            <a:ext cx="228600" cy="228600"/>
          </a:xfrm>
          <a:prstGeom prst="rect">
            <a:avLst/>
          </a:prstGeom>
        </p:spPr>
      </p:pic>
      <p:sp>
        <p:nvSpPr>
          <p:cNvPr id="12" name="Card 2 número"/>
          <p:cNvSpPr txBox="1"/>
          <p:nvPr/>
        </p:nvSpPr>
        <p:spPr>
          <a:xfrm>
            <a:off x="274320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9</a:t>
            </a:r>
            <a:endParaRPr lang="en-US" sz="3600" dirty="0"/>
          </a:p>
        </p:txBody>
      </p:sp>
      <p:sp>
        <p:nvSpPr>
          <p:cNvPr id="13" name="Card 2 rótulo"/>
          <p:cNvSpPr txBox="1"/>
          <p:nvPr/>
        </p:nvSpPr>
        <p:spPr>
          <a:xfrm>
            <a:off x="27432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riscos identificados</a:t>
            </a:r>
            <a:endParaRPr lang="en-US" sz="1200" dirty="0"/>
          </a:p>
        </p:txBody>
      </p:sp>
      <p:sp>
        <p:nvSpPr>
          <p:cNvPr id="14" name="Card 2 subtítulo"/>
          <p:cNvSpPr txBox="1"/>
          <p:nvPr/>
        </p:nvSpPr>
        <p:spPr>
          <a:xfrm>
            <a:off x="2743200" y="2761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 medidas de controle</a:t>
            </a:r>
            <a:endParaRPr lang="en-US" sz="1000" dirty="0"/>
          </a:p>
        </p:txBody>
      </p:sp>
      <p:sp>
        <p:nvSpPr>
          <p:cNvPr id="15" name="Card 3"/>
          <p:cNvSpPr/>
          <p:nvPr/>
        </p:nvSpPr>
        <p:spPr>
          <a:xfrm>
            <a:off x="4663440" y="12801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6" name="Card 3 círculo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17" name="Card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577340"/>
            <a:ext cx="228600" cy="228600"/>
          </a:xfrm>
          <a:prstGeom prst="rect">
            <a:avLst/>
          </a:prstGeom>
        </p:spPr>
      </p:pic>
      <p:sp>
        <p:nvSpPr>
          <p:cNvPr id="18" name="Card 3 número"/>
          <p:cNvSpPr txBox="1"/>
          <p:nvPr/>
        </p:nvSpPr>
        <p:spPr>
          <a:xfrm>
            <a:off x="484632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5</a:t>
            </a:r>
            <a:endParaRPr lang="en-US" sz="3600" dirty="0"/>
          </a:p>
        </p:txBody>
      </p:sp>
      <p:sp>
        <p:nvSpPr>
          <p:cNvPr id="19" name="Card 3 rótulo"/>
          <p:cNvSpPr txBox="1"/>
          <p:nvPr/>
        </p:nvSpPr>
        <p:spPr>
          <a:xfrm>
            <a:off x="484632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riscos Prejudicial</a:t>
            </a:r>
            <a:endParaRPr lang="en-US" sz="1200" dirty="0"/>
          </a:p>
        </p:txBody>
      </p:sp>
      <p:sp>
        <p:nvSpPr>
          <p:cNvPr id="20" name="Card 3 subtítulo"/>
          <p:cNvSpPr txBox="1"/>
          <p:nvPr/>
        </p:nvSpPr>
        <p:spPr>
          <a:xfrm>
            <a:off x="4846320" y="2761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 4 Levemente prejudicial</a:t>
            </a:r>
            <a:endParaRPr lang="en-US" sz="1000" dirty="0"/>
          </a:p>
        </p:txBody>
      </p:sp>
      <p:sp>
        <p:nvSpPr>
          <p:cNvPr id="21" name="Card 4"/>
          <p:cNvSpPr/>
          <p:nvPr/>
        </p:nvSpPr>
        <p:spPr>
          <a:xfrm>
            <a:off x="6766560" y="12801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2" name="Card 4 círculo"/>
          <p:cNvSpPr/>
          <p:nvPr/>
        </p:nvSpPr>
        <p:spPr>
          <a:xfrm>
            <a:off x="6949440" y="14630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3" name="Card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577340"/>
            <a:ext cx="228600" cy="228600"/>
          </a:xfrm>
          <a:prstGeom prst="rect">
            <a:avLst/>
          </a:prstGeom>
        </p:spPr>
      </p:pic>
      <p:sp>
        <p:nvSpPr>
          <p:cNvPr id="24" name="Card 4 número"/>
          <p:cNvSpPr txBox="1"/>
          <p:nvPr/>
        </p:nvSpPr>
        <p:spPr>
          <a:xfrm>
            <a:off x="694944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60</a:t>
            </a:r>
            <a:endParaRPr lang="en-US" sz="3600" dirty="0"/>
          </a:p>
        </p:txBody>
      </p:sp>
      <p:sp>
        <p:nvSpPr>
          <p:cNvPr id="25" name="Card 4 rótulo"/>
          <p:cNvSpPr txBox="1"/>
          <p:nvPr/>
        </p:nvSpPr>
        <p:spPr>
          <a:xfrm>
            <a:off x="694944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dias de prazo</a:t>
            </a:r>
            <a:endParaRPr lang="en-US" sz="1200" dirty="0"/>
          </a:p>
        </p:txBody>
      </p:sp>
      <p:sp>
        <p:nvSpPr>
          <p:cNvPr id="26" name="Card 4 subtítulo"/>
          <p:cNvSpPr txBox="1"/>
          <p:nvPr/>
        </p:nvSpPr>
        <p:spPr>
          <a:xfrm>
            <a:off x="6949440" y="2761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para todas as medidas</a:t>
            </a:r>
            <a:endParaRPr lang="en-US" sz="1000" dirty="0"/>
          </a:p>
        </p:txBody>
      </p:sp>
      <p:sp>
        <p:nvSpPr>
          <p:cNvPr id="27" name="Info 1 rótulo"/>
          <p:cNvSpPr txBox="1"/>
          <p:nvPr/>
        </p:nvSpPr>
        <p:spPr>
          <a:xfrm>
            <a:off x="457200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EMPRESA</a:t>
            </a:r>
            <a:endParaRPr lang="en-US" sz="1000" dirty="0"/>
          </a:p>
        </p:txBody>
      </p:sp>
      <p:sp>
        <p:nvSpPr>
          <p:cNvPr id="28" name="Info 1 valor"/>
          <p:cNvSpPr txBox="1"/>
          <p:nvPr/>
        </p:nvSpPr>
        <p:spPr>
          <a:xfrm>
            <a:off x="45720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CREA - RR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CNPJ 02.929.034/0001-90</a:t>
            </a:r>
            <a:endParaRPr lang="en-US" sz="1300" dirty="0"/>
          </a:p>
        </p:txBody>
      </p:sp>
      <p:sp>
        <p:nvSpPr>
          <p:cNvPr id="29" name="Info 2 rótulo"/>
          <p:cNvSpPr txBox="1"/>
          <p:nvPr/>
        </p:nvSpPr>
        <p:spPr>
          <a:xfrm>
            <a:off x="3291840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PERÍODO ANALISADO</a:t>
            </a:r>
            <a:endParaRPr lang="en-US" sz="1000" dirty="0"/>
          </a:p>
        </p:txBody>
      </p:sp>
      <p:sp>
        <p:nvSpPr>
          <p:cNvPr id="30" name="Info 2 valor"/>
          <p:cNvSpPr txBox="1"/>
          <p:nvPr/>
        </p:nvSpPr>
        <p:spPr>
          <a:xfrm>
            <a:off x="329184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15/04/2026 a 12/05/2026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Emissão do relatório: 12/05/2026</a:t>
            </a:r>
            <a:endParaRPr lang="en-US" sz="1300" dirty="0"/>
          </a:p>
        </p:txBody>
      </p:sp>
      <p:sp>
        <p:nvSpPr>
          <p:cNvPr id="31" name="Info 3 rótulo"/>
          <p:cNvSpPr txBox="1"/>
          <p:nvPr/>
        </p:nvSpPr>
        <p:spPr>
          <a:xfrm>
            <a:off x="6126480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METODOLOGIA</a:t>
            </a:r>
            <a:endParaRPr lang="en-US" sz="1000" dirty="0"/>
          </a:p>
        </p:txBody>
      </p:sp>
      <p:sp>
        <p:nvSpPr>
          <p:cNvPr id="32" name="Info 3 valor"/>
          <p:cNvSpPr txBox="1"/>
          <p:nvPr/>
        </p:nvSpPr>
        <p:spPr>
          <a:xfrm>
            <a:off x="612648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ISTAS21-BR (NR-01)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Validade de 12 meses</a:t>
            </a:r>
            <a:endParaRPr lang="en-US" sz="1300" dirty="0"/>
          </a:p>
        </p:txBody>
      </p:sp>
      <p:sp>
        <p:nvSpPr>
          <p:cNvPr id="33" name="Status geral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Situação atual de todas as medidas: Aguardando início  ·  Responsáveis: a definir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Probabilidade de exposição por risco</a:t>
            </a:r>
            <a:endParaRPr lang="en-US" sz="2600" dirty="0"/>
          </a:p>
        </p:txBody>
      </p:sp>
      <p:graphicFrame>
        <p:nvGraphicFramePr>
          <p:cNvPr id="3" name="Gráfico de probabilidade por risco" descr=""/>
          <p:cNvGraphicFramePr/>
          <p:nvPr/>
        </p:nvGraphicFramePr>
        <p:xfrm>
          <a:off x="457200" y="118872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genda título"/>
          <p:cNvSpPr txBox="1"/>
          <p:nvPr/>
        </p:nvSpPr>
        <p:spPr>
          <a:xfrm>
            <a:off x="6309360" y="1234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SEVERIDADE</a:t>
            </a:r>
            <a:endParaRPr lang="en-US" sz="1000" dirty="0"/>
          </a:p>
        </p:txBody>
      </p:sp>
      <p:sp>
        <p:nvSpPr>
          <p:cNvPr id="5" name="Legenda P"/>
          <p:cNvSpPr/>
          <p:nvPr/>
        </p:nvSpPr>
        <p:spPr>
          <a:xfrm>
            <a:off x="6309360" y="15910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Legenda P texto"/>
          <p:cNvSpPr txBox="1"/>
          <p:nvPr/>
        </p:nvSpPr>
        <p:spPr>
          <a:xfrm>
            <a:off x="6601968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Prejudicial</a:t>
            </a:r>
            <a:endParaRPr lang="en-US" sz="1200" dirty="0"/>
          </a:p>
        </p:txBody>
      </p:sp>
      <p:sp>
        <p:nvSpPr>
          <p:cNvPr id="7" name="Legenda L"/>
          <p:cNvSpPr/>
          <p:nvPr/>
        </p:nvSpPr>
        <p:spPr>
          <a:xfrm>
            <a:off x="6309360" y="19110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8" name="Legenda L texto"/>
          <p:cNvSpPr txBox="1"/>
          <p:nvPr/>
        </p:nvSpPr>
        <p:spPr>
          <a:xfrm>
            <a:off x="6601968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Levemente prejudicial</a:t>
            </a:r>
            <a:endParaRPr lang="en-US" sz="1200" dirty="0"/>
          </a:p>
        </p:txBody>
      </p:sp>
      <p:sp>
        <p:nvSpPr>
          <p:cNvPr id="9" name="Card leitura"/>
          <p:cNvSpPr/>
          <p:nvPr/>
        </p:nvSpPr>
        <p:spPr>
          <a:xfrm>
            <a:off x="6309360" y="237744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Leitura título"/>
          <p:cNvSpPr txBox="1"/>
          <p:nvPr/>
        </p:nvSpPr>
        <p:spPr>
          <a:xfrm>
            <a:off x="649224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Leitura</a:t>
            </a:r>
            <a:endParaRPr lang="en-US" sz="1400" dirty="0"/>
          </a:p>
        </p:txBody>
      </p:sp>
      <p:sp>
        <p:nvSpPr>
          <p:cNvPr id="11" name="Leitura texto"/>
          <p:cNvSpPr txBox="1"/>
          <p:nvPr/>
        </p:nvSpPr>
        <p:spPr>
          <a:xfrm>
            <a:off x="6492240" y="27889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Metas rigorosas e decisões complexas lideram, com 8 relatos cada.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Quatro riscos Prejudicial acima de 10% merecem ação imediata.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Base: 43 respondentes.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Priorização proposta para o plano</a:t>
            </a:r>
            <a:endParaRPr lang="en-US" sz="2600" dirty="0"/>
          </a:p>
        </p:txBody>
      </p:sp>
      <p:graphicFrame>
        <p:nvGraphicFramePr>
          <p:cNvPr id="5" name="Tabela de priorizaç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463040"/>
                <a:gridCol w="914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 rigorosas de produção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18,6%  (8/43)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9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Difícil comunicação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14,0%  (6/43)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9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Interrupções e interferências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11,6%  (5/43)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9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Ansiedade por decisões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18,6%  (8/43)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Levemente 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F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pausas para descanso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11,6%  (5/43)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Levemente 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F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Repressão emocional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7,0%  (3/43)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9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F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de turnos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7,0%  (3/43)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9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F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Sobrecarga de trabalho mental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9,3%  (4/43)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Levemente 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5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Limitação da expressão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2,3%  (1/43)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Levemente 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5A"/>
                    </a:solidFill>
                  </a:tcPr>
                </a:tc>
              </a:tr>
            </a:tbl>
          </a:graphicData>
        </a:graphic>
      </p:graphicFrame>
      <p:sp>
        <p:nvSpPr>
          <p:cNvPr id="4" name="Card critério"/>
          <p:cNvSpPr/>
          <p:nvPr/>
        </p:nvSpPr>
        <p:spPr>
          <a:xfrm>
            <a:off x="6583680" y="118872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Critério círculo"/>
          <p:cNvSpPr/>
          <p:nvPr/>
        </p:nvSpPr>
        <p:spPr>
          <a:xfrm>
            <a:off x="6766560" y="137160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6" name="Critéri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1485900"/>
            <a:ext cx="228600" cy="228600"/>
          </a:xfrm>
          <a:prstGeom prst="rect">
            <a:avLst/>
          </a:prstGeom>
        </p:spPr>
      </p:pic>
      <p:sp>
        <p:nvSpPr>
          <p:cNvPr id="7" name="Critério título"/>
          <p:cNvSpPr txBox="1"/>
          <p:nvPr/>
        </p:nvSpPr>
        <p:spPr>
          <a:xfrm>
            <a:off x="67665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Critério sugerido</a:t>
            </a:r>
            <a:endParaRPr lang="en-US" sz="1400" dirty="0"/>
          </a:p>
        </p:txBody>
      </p:sp>
      <p:sp>
        <p:nvSpPr>
          <p:cNvPr id="8" name="Critério texto"/>
          <p:cNvSpPr txBox="1"/>
          <p:nvPr/>
        </p:nvSpPr>
        <p:spPr>
          <a:xfrm>
            <a:off x="6766560" y="22402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553D"/>
                </a:solidFill>
              </a:rPr>
              <a:t>Alta: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Prejudicial com 10% ou mais de expostos.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9F3E"/>
                </a:solidFill>
              </a:rPr>
              <a:t>Média: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Prejudicial abaixo de 10%, ou Levemente prejudicial com 10% ou mais.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E8E5A"/>
                </a:solidFill>
              </a:rPr>
              <a:t>Baixa: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Levemente prejudicial abaixo de 10%.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C8C8F"/>
                </a:solidFill>
              </a:rPr>
              <a:t>A ordem pode ser revista pelo comitê na validação do plano.</a:t>
            </a:r>
            <a:endParaRPr lang="en-US" sz="1100" dirty="0"/>
          </a:p>
        </p:txBody>
      </p:sp>
      <p:sp>
        <p:nvSpPr>
          <p:cNvPr id="9" name="Nota tabela"/>
          <p:cNvSpPr txBox="1"/>
          <p:nvPr/>
        </p:nvSpPr>
        <p:spPr>
          <a:xfrm>
            <a:off x="457200" y="43434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Nomes abreviados; a descrição completa de cada risco está nos slides do plano de ação.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Funções mais expostas aos riscos</a:t>
            </a:r>
            <a:endParaRPr lang="en-US" sz="2600" dirty="0"/>
          </a:p>
        </p:txBody>
      </p:sp>
      <p:graphicFrame>
        <p:nvGraphicFramePr>
          <p:cNvPr id="3" name="Gráfico de riscos por função" descr=""/>
          <p:cNvGraphicFramePr/>
          <p:nvPr/>
        </p:nvGraphicFramePr>
        <p:xfrm>
          <a:off x="457200" y="118872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genda eixo"/>
          <p:cNvSpPr txBox="1"/>
          <p:nvPr/>
        </p:nvSpPr>
        <p:spPr>
          <a:xfrm>
            <a:off x="457200" y="457200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Nº de riscos em que a função aparece como exposta (de 9)</a:t>
            </a:r>
            <a:endParaRPr lang="en-US" sz="900" dirty="0"/>
          </a:p>
        </p:txBody>
      </p:sp>
      <p:sp>
        <p:nvSpPr>
          <p:cNvPr id="5" name="Função 1 círculo"/>
          <p:cNvSpPr/>
          <p:nvPr/>
        </p:nvSpPr>
        <p:spPr>
          <a:xfrm>
            <a:off x="6309360" y="1234440"/>
            <a:ext cx="411480" cy="4114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6" name="Função 1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1337310"/>
            <a:ext cx="205740" cy="205740"/>
          </a:xfrm>
          <a:prstGeom prst="rect">
            <a:avLst/>
          </a:prstGeom>
        </p:spPr>
      </p:pic>
      <p:sp>
        <p:nvSpPr>
          <p:cNvPr id="7" name="Função 1 título"/>
          <p:cNvSpPr txBox="1"/>
          <p:nvPr/>
        </p:nvSpPr>
        <p:spPr>
          <a:xfrm>
            <a:off x="685800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Assistente Administrativo</a:t>
            </a:r>
            <a:endParaRPr lang="en-US" sz="1200" dirty="0"/>
          </a:p>
        </p:txBody>
      </p:sp>
      <p:sp>
        <p:nvSpPr>
          <p:cNvPr id="8" name="Função 1 descrição"/>
          <p:cNvSpPr txBox="1"/>
          <p:nvPr/>
        </p:nvSpPr>
        <p:spPr>
          <a:xfrm>
            <a:off x="63093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Exposto em todos os 9 riscos. Deve ser o público prioritário das ações.</a:t>
            </a:r>
            <a:endParaRPr lang="en-US" sz="1100" dirty="0"/>
          </a:p>
        </p:txBody>
      </p:sp>
      <p:sp>
        <p:nvSpPr>
          <p:cNvPr id="9" name="Função 2 círculo"/>
          <p:cNvSpPr/>
          <p:nvPr/>
        </p:nvSpPr>
        <p:spPr>
          <a:xfrm>
            <a:off x="6309360" y="2377440"/>
            <a:ext cx="411480" cy="41148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10" name="Função 2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2480310"/>
            <a:ext cx="205740" cy="205740"/>
          </a:xfrm>
          <a:prstGeom prst="rect">
            <a:avLst/>
          </a:prstGeom>
        </p:spPr>
      </p:pic>
      <p:sp>
        <p:nvSpPr>
          <p:cNvPr id="11" name="Função 2 título"/>
          <p:cNvSpPr txBox="1"/>
          <p:nvPr/>
        </p:nvSpPr>
        <p:spPr>
          <a:xfrm>
            <a:off x="68580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Assessor(a), Financeiro e Contabilidade</a:t>
            </a:r>
            <a:endParaRPr lang="en-US" sz="1200" dirty="0"/>
          </a:p>
        </p:txBody>
      </p:sp>
      <p:sp>
        <p:nvSpPr>
          <p:cNvPr id="12" name="Função 2 descrição"/>
          <p:cNvSpPr txBox="1"/>
          <p:nvPr/>
        </p:nvSpPr>
        <p:spPr>
          <a:xfrm>
            <a:off x="6309360" y="2834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Entre 5 e 6 riscos cada: concentrar as frentes de metas, comunicação e pausas.</a:t>
            </a:r>
            <a:endParaRPr lang="en-US" sz="1100" dirty="0"/>
          </a:p>
        </p:txBody>
      </p:sp>
      <p:sp>
        <p:nvSpPr>
          <p:cNvPr id="13" name="Função 3 círculo"/>
          <p:cNvSpPr/>
          <p:nvPr/>
        </p:nvSpPr>
        <p:spPr>
          <a:xfrm>
            <a:off x="6309360" y="3520440"/>
            <a:ext cx="411480" cy="41148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14" name="Função 3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3623310"/>
            <a:ext cx="205740" cy="205740"/>
          </a:xfrm>
          <a:prstGeom prst="rect">
            <a:avLst/>
          </a:prstGeom>
        </p:spPr>
      </p:pic>
      <p:sp>
        <p:nvSpPr>
          <p:cNvPr id="15" name="Função 3 título"/>
          <p:cNvSpPr txBox="1"/>
          <p:nvPr/>
        </p:nvSpPr>
        <p:spPr>
          <a:xfrm>
            <a:off x="68580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Lideranças</a:t>
            </a:r>
            <a:endParaRPr lang="en-US" sz="1200" dirty="0"/>
          </a:p>
        </p:txBody>
      </p:sp>
      <p:sp>
        <p:nvSpPr>
          <p:cNvPr id="16" name="Função 3 descrição"/>
          <p:cNvSpPr txBox="1"/>
          <p:nvPr/>
        </p:nvSpPr>
        <p:spPr>
          <a:xfrm>
            <a:off x="630936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Superintendente e gerentes aparecem em decisões complexas e comunicação.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ncheta círculo"/>
          <p:cNvSpPr/>
          <p:nvPr/>
        </p:nvSpPr>
        <p:spPr>
          <a:xfrm>
            <a:off x="548640" y="914400"/>
            <a:ext cx="731520" cy="73152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3" name="Pranche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Plano de ação por risco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Nove riscos, três medidas de controle cada, prazo de 60 dias para implementação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Trabalho com utilização rigorosa de metas de produção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ALTA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18,6%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8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Assessor (a)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Procurador Jurídico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Financeiro e Contábil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Chefe de Contabilidade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Estagiário (a)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Reavaliar as metas e prazos definidos, ajustando-os para níveis alcançáveis.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Oferecer suporte direto por meio de reuniões periódicas para acompanhamento e esclarecimento de expectativas.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Disponibilizar recursos adicionais ou treinamento específico para melhorar a gestão do tempo e das atividades.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1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Trabalho em condições de difícil comunicação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ALTA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14,0%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Financeiro e Contábil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Assessor (a)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Superintendente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Definir claramente as responsabilidades e atribuições através de documentação ou reuniões periódicas.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Oferecer treinamento regular sobre funções e expectativas relacionadas a cada cargo.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Criar canais diretos e eficientes para esclarecer dúvidas ou solicitar orientações adicionais.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2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Interrupções e interferências no trabalho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ALTA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11,6%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Assessor (a)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Procurador Jurídico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Financeiro e Contábil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Definir horários específicos para comunicação ou reuniões com a chefia, reduzindo interrupções injustificadas.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Proporcionar treinamento aos líderes sobre gestão eficaz e comunicação assertiva.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Estabelecer procedimentos claros para que interrupções ocorram somente em situações necessárias ou emergenciais.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3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Ansiedade por decisões complexas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LEVEMENTE 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MÉDIA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18,6%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8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Assessor (a)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Financeiro e Contábil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Chefe de Contabilidade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de Fiscalização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Superintendente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Oferecer treinamento específico ou orientações práticas sobre como lidar com decisões complexas.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Proporcionar suporte emocional ou aconselhamento psicológico disponível para situações que geram ansiedade.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Realizar reuniões periódicas para revisar e simplificar processos decisórios complexos.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4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Trabalho realizado sem pausas pré-definidas para descanso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LEVEMENTE 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MÉDIA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11,6%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Financeiro e Contábil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Assessor(a) Técnico(a) - Geólogo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Chefe de Contabilidade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Estagiário (a)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Revisar e reorganizar horários de trabalho, assegurando pausas periódicas adequadas.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Promover treinamentos de conscientização para gestores sobre a importância das pausas para saúde e produtividade.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Implementar mecanismos de monitoramento para garantir o cumprimento dos horários de descanso previstos.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5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Repressão emocional no ambiente de trabalho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MÉDIA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7,0%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Financeiro e Contábil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Chefe de Contabilidade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Promover treinamentos para líderes sobre gestão emocional e comunicação empática.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Criar canais seguros e confidenciais para comunicação sobre insatisfações ou desconfortos emocionais.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Incentivar reuniões periódicas para avaliar o ambiente emocional da equipe e identificar pontos críticos para intervenção.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6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Trabalho com necessidade de variação de turnos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MÉDIA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7,0%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Assessor (a)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Estabelecer e respeitar políticas claras sobre mudanças de turno com antecedência mínima obrigatória.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Capacitar gestores para gestão consciente da equipe e compreensão das implicações das mudanças inesperadas.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Disponibilizar canais claros e seguros para reporte de abusos ou situações em que acordos pré-estabelecidos sejam descumpridos.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7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Situações de sobrecarga de trabalho mental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LEVEMENTE 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BAIXA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9,3%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Assessor (a)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Chefe de Contabilidade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Gerente de Fiscalização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Estabelecer políticas claras sobre realização e comunicação antecipada de horas extras.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Implementar controle rigoroso sobre jornada de trabalho, garantindo a comunicação prévia adequada.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Disponibilizar canais confidenciais para reportar abusos ou irregularidades relacionadas à jornada de trabalho.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8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Limitação da expressão e participação</a:t>
            </a:r>
            <a:endParaRPr lang="en-US" sz="2600" dirty="0"/>
          </a:p>
        </p:txBody>
      </p:sp>
      <p:sp>
        <p:nvSpPr>
          <p:cNvPr id="3" name="Severidade"/>
          <p:cNvSpPr/>
          <p:nvPr/>
        </p:nvSpPr>
        <p:spPr>
          <a:xfrm>
            <a:off x="457200" y="1234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4" name="Severidade texto"/>
          <p:cNvSpPr txBox="1"/>
          <p:nvPr/>
        </p:nvSpPr>
        <p:spPr>
          <a:xfrm>
            <a:off x="45720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LEVEMENTE PREJUDICIAL</a:t>
            </a:r>
            <a:endParaRPr lang="en-US" sz="1100" dirty="0"/>
          </a:p>
        </p:txBody>
      </p:sp>
      <p:sp>
        <p:nvSpPr>
          <p:cNvPr id="5" name="Prioridade"/>
          <p:cNvSpPr/>
          <p:nvPr/>
        </p:nvSpPr>
        <p:spPr>
          <a:xfrm>
            <a:off x="2286000" y="12344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6" name="Prioridade texto"/>
          <p:cNvSpPr txBox="1"/>
          <p:nvPr/>
        </p:nvSpPr>
        <p:spPr>
          <a:xfrm>
            <a:off x="2286000" y="1234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PRIORIDADE BAIXA</a:t>
            </a:r>
            <a:endParaRPr lang="en-US" sz="1100" dirty="0"/>
          </a:p>
        </p:txBody>
      </p:sp>
      <p:sp>
        <p:nvSpPr>
          <p:cNvPr id="7" name="Probabilidade"/>
          <p:cNvSpPr txBox="1"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2,3%</a:t>
            </a:r>
            <a:endParaRPr lang="en-US" sz="4400" dirty="0"/>
          </a:p>
        </p:txBody>
      </p:sp>
      <p:sp>
        <p:nvSpPr>
          <p:cNvPr id="8" name="Base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de 43 respondentes expostos</a:t>
            </a:r>
            <a:endParaRPr lang="en-US" sz="1100" dirty="0"/>
          </a:p>
        </p:txBody>
      </p:sp>
      <p:sp>
        <p:nvSpPr>
          <p:cNvPr id="9" name="Funções rótulo"/>
          <p:cNvSpPr txBox="1"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FUNÇÕES EXPOSTAS</a:t>
            </a:r>
            <a:endParaRPr lang="en-US" sz="1000" dirty="0"/>
          </a:p>
        </p:txBody>
      </p:sp>
      <p:sp>
        <p:nvSpPr>
          <p:cNvPr id="10" name="Funções lista"/>
          <p:cNvSpPr txBox="1"/>
          <p:nvPr/>
        </p:nvSpPr>
        <p:spPr>
          <a:xfrm>
            <a:off x="45720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Assistente Administrativo</a:t>
            </a:r>
            <a:endParaRPr lang="en-US" sz="1200" dirty="0"/>
          </a:p>
        </p:txBody>
      </p:sp>
      <p:sp>
        <p:nvSpPr>
          <p:cNvPr id="11" name="Card medidas"/>
          <p:cNvSpPr/>
          <p:nvPr/>
        </p:nvSpPr>
        <p:spPr>
          <a:xfrm>
            <a:off x="3931920" y="123444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Medidas círculo"/>
          <p:cNvSpPr/>
          <p:nvPr/>
        </p:nvSpPr>
        <p:spPr>
          <a:xfrm>
            <a:off x="4114800" y="13716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Medid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812" y="1467612"/>
            <a:ext cx="192024" cy="192024"/>
          </a:xfrm>
          <a:prstGeom prst="rect">
            <a:avLst/>
          </a:prstGeom>
        </p:spPr>
      </p:pic>
      <p:sp>
        <p:nvSpPr>
          <p:cNvPr id="14" name="Medidas título"/>
          <p:cNvSpPr txBox="1"/>
          <p:nvPr/>
        </p:nvSpPr>
        <p:spPr>
          <a:xfrm>
            <a:off x="46177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Medidas de controle</a:t>
            </a:r>
            <a:endParaRPr lang="en-US" sz="1400" dirty="0"/>
          </a:p>
        </p:txBody>
      </p:sp>
      <p:sp>
        <p:nvSpPr>
          <p:cNvPr id="15" name="Número 1"/>
          <p:cNvSpPr/>
          <p:nvPr/>
        </p:nvSpPr>
        <p:spPr>
          <a:xfrm>
            <a:off x="4114800" y="1892808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Número 1 texto"/>
          <p:cNvSpPr txBox="1"/>
          <p:nvPr/>
        </p:nvSpPr>
        <p:spPr>
          <a:xfrm>
            <a:off x="411480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Medida 1"/>
          <p:cNvSpPr txBox="1"/>
          <p:nvPr/>
        </p:nvSpPr>
        <p:spPr>
          <a:xfrm>
            <a:off x="4526280" y="187452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Promover reuniões periódicas para ouvir sugestões e opiniões da equipe sobre processos de trabalho.</a:t>
            </a:r>
            <a:endParaRPr lang="en-US" sz="1200" dirty="0"/>
          </a:p>
        </p:txBody>
      </p:sp>
      <p:sp>
        <p:nvSpPr>
          <p:cNvPr id="18" name="Número 2"/>
          <p:cNvSpPr/>
          <p:nvPr/>
        </p:nvSpPr>
        <p:spPr>
          <a:xfrm>
            <a:off x="4114800" y="2642616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9" name="Número 2 texto"/>
          <p:cNvSpPr txBox="1"/>
          <p:nvPr/>
        </p:nvSpPr>
        <p:spPr>
          <a:xfrm>
            <a:off x="41148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Medida 2"/>
          <p:cNvSpPr txBox="1"/>
          <p:nvPr/>
        </p:nvSpPr>
        <p:spPr>
          <a:xfrm>
            <a:off x="4526280" y="262432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Implementar canais seguros e acessíveis para sugestões anônimas ou diretas.</a:t>
            </a:r>
            <a:endParaRPr lang="en-US" sz="1200" dirty="0"/>
          </a:p>
        </p:txBody>
      </p:sp>
      <p:sp>
        <p:nvSpPr>
          <p:cNvPr id="21" name="Número 3"/>
          <p:cNvSpPr/>
          <p:nvPr/>
        </p:nvSpPr>
        <p:spPr>
          <a:xfrm>
            <a:off x="4114800" y="3392424"/>
            <a:ext cx="292608" cy="292608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2" name="Número 3 texto"/>
          <p:cNvSpPr txBox="1"/>
          <p:nvPr/>
        </p:nvSpPr>
        <p:spPr>
          <a:xfrm>
            <a:off x="411480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Medida 3"/>
          <p:cNvSpPr txBox="1"/>
          <p:nvPr/>
        </p:nvSpPr>
        <p:spPr>
          <a:xfrm>
            <a:off x="4526280" y="33741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Treinar gestores para incentivar a participação ativa e valorização das contribuições dos funcionários.</a:t>
            </a:r>
            <a:endParaRPr lang="en-US" sz="1200" dirty="0"/>
          </a:p>
        </p:txBody>
      </p:sp>
      <p:pic>
        <p:nvPicPr>
          <p:cNvPr id="24" name="Praz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297680"/>
            <a:ext cx="274320" cy="274320"/>
          </a:xfrm>
          <a:prstGeom prst="rect">
            <a:avLst/>
          </a:prstGeom>
        </p:spPr>
      </p:pic>
      <p:sp>
        <p:nvSpPr>
          <p:cNvPr id="25" name="Prazo rótulo"/>
          <p:cNvSpPr txBox="1"/>
          <p:nvPr/>
        </p:nvSpPr>
        <p:spPr>
          <a:xfrm>
            <a:off x="42793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PRAZO</a:t>
            </a:r>
            <a:endParaRPr lang="en-US" sz="800" dirty="0"/>
          </a:p>
        </p:txBody>
      </p:sp>
      <p:sp>
        <p:nvSpPr>
          <p:cNvPr id="26" name="Prazo valor"/>
          <p:cNvSpPr txBox="1"/>
          <p:nvPr/>
        </p:nvSpPr>
        <p:spPr>
          <a:xfrm>
            <a:off x="42793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60 dias</a:t>
            </a:r>
            <a:endParaRPr lang="en-US" sz="1100" dirty="0"/>
          </a:p>
        </p:txBody>
      </p:sp>
      <p:pic>
        <p:nvPicPr>
          <p:cNvPr id="27" name="Responsáve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74320" cy="274320"/>
          </a:xfrm>
          <a:prstGeom prst="rect">
            <a:avLst/>
          </a:prstGeom>
        </p:spPr>
      </p:pic>
      <p:sp>
        <p:nvSpPr>
          <p:cNvPr id="28" name="Responsáveis rótulo"/>
          <p:cNvSpPr txBox="1"/>
          <p:nvPr/>
        </p:nvSpPr>
        <p:spPr>
          <a:xfrm>
            <a:off x="58795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RESPONSÁVEIS</a:t>
            </a:r>
            <a:endParaRPr lang="en-US" sz="800" dirty="0"/>
          </a:p>
        </p:txBody>
      </p:sp>
      <p:sp>
        <p:nvSpPr>
          <p:cNvPr id="29" name="Responsáveis valor"/>
          <p:cNvSpPr txBox="1"/>
          <p:nvPr/>
        </p:nvSpPr>
        <p:spPr>
          <a:xfrm>
            <a:off x="58795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 definir</a:t>
            </a:r>
            <a:endParaRPr lang="en-US" sz="1100" dirty="0"/>
          </a:p>
        </p:txBody>
      </p:sp>
      <p:pic>
        <p:nvPicPr>
          <p:cNvPr id="30" name="Statu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97680"/>
            <a:ext cx="274320" cy="274320"/>
          </a:xfrm>
          <a:prstGeom prst="rect">
            <a:avLst/>
          </a:prstGeom>
        </p:spPr>
      </p:pic>
      <p:sp>
        <p:nvSpPr>
          <p:cNvPr id="31" name="Status rótulo"/>
          <p:cNvSpPr txBox="1"/>
          <p:nvPr/>
        </p:nvSpPr>
        <p:spPr>
          <a:xfrm>
            <a:off x="7479792" y="42611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5"/>
                </a:solidFill>
              </a:rPr>
              <a:t>STATUS</a:t>
            </a:r>
            <a:endParaRPr lang="en-US" sz="800" dirty="0"/>
          </a:p>
        </p:txBody>
      </p:sp>
      <p:sp>
        <p:nvSpPr>
          <p:cNvPr id="32" name="Status valor"/>
          <p:cNvSpPr txBox="1"/>
          <p:nvPr/>
        </p:nvSpPr>
        <p:spPr>
          <a:xfrm>
            <a:off x="747979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Aguardando início</a:t>
            </a:r>
            <a:endParaRPr lang="en-US" sz="1100" dirty="0"/>
          </a:p>
        </p:txBody>
      </p:sp>
      <p:sp>
        <p:nvSpPr>
          <p:cNvPr id="33" name="Contador"/>
          <p:cNvSpPr txBox="1"/>
          <p:nvPr/>
        </p:nvSpPr>
        <p:spPr>
          <a:xfrm>
            <a:off x="457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Risco 9 de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Quatro frentes transversais consolidam as 27 medidas</a:t>
            </a:r>
            <a:endParaRPr lang="en-US" sz="2600" dirty="0"/>
          </a:p>
        </p:txBody>
      </p:sp>
      <p:sp>
        <p:nvSpPr>
          <p:cNvPr id="3" name="Frente 1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Frente 1 círculo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5" name="Frente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Frente 1 título"/>
          <p:cNvSpPr txBox="1"/>
          <p:nvPr/>
        </p:nvSpPr>
        <p:spPr>
          <a:xfrm>
            <a:off x="1234440" y="1417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Capacitação de lideranças</a:t>
            </a:r>
            <a:endParaRPr lang="en-US" sz="1500" dirty="0"/>
          </a:p>
        </p:txBody>
      </p:sp>
      <p:sp>
        <p:nvSpPr>
          <p:cNvPr id="7" name="Frente 1 descrição"/>
          <p:cNvSpPr txBox="1"/>
          <p:nvPr/>
        </p:nvSpPr>
        <p:spPr>
          <a:xfrm>
            <a:off x="640080" y="1947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Gestão emocional, comunicação assertiva e empática, decisões complexas, pausas e mudanças de turno.</a:t>
            </a:r>
            <a:endParaRPr lang="en-US" sz="1100" dirty="0"/>
          </a:p>
        </p:txBody>
      </p:sp>
      <p:sp>
        <p:nvSpPr>
          <p:cNvPr id="8" name="Frente 1 riscos"/>
          <p:cNvSpPr txBox="1"/>
          <p:nvPr/>
        </p:nvSpPr>
        <p:spPr>
          <a:xfrm>
            <a:off x="64008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</a:rPr>
              <a:t>Riscos 2, 3, 4, 6, 8 e 9</a:t>
            </a:r>
            <a:endParaRPr lang="en-US" sz="1000" dirty="0"/>
          </a:p>
        </p:txBody>
      </p:sp>
      <p:sp>
        <p:nvSpPr>
          <p:cNvPr id="9" name="Frente 2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Frente 2 círculo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11" name="Frente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31620"/>
            <a:ext cx="228600" cy="228600"/>
          </a:xfrm>
          <a:prstGeom prst="rect">
            <a:avLst/>
          </a:prstGeom>
        </p:spPr>
      </p:pic>
      <p:sp>
        <p:nvSpPr>
          <p:cNvPr id="12" name="Frente 2 título"/>
          <p:cNvSpPr txBox="1"/>
          <p:nvPr/>
        </p:nvSpPr>
        <p:spPr>
          <a:xfrm>
            <a:off x="5440680" y="1417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Canais confidenciais de escuta</a:t>
            </a:r>
            <a:endParaRPr lang="en-US" sz="1500" dirty="0"/>
          </a:p>
        </p:txBody>
      </p:sp>
      <p:sp>
        <p:nvSpPr>
          <p:cNvPr id="13" name="Frente 2 descrição"/>
          <p:cNvSpPr txBox="1"/>
          <p:nvPr/>
        </p:nvSpPr>
        <p:spPr>
          <a:xfrm>
            <a:off x="4846320" y="1947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Canal seguro e anônimo para insatisfações, abusos de jornada, descumprimento de acordos e sugestões.</a:t>
            </a:r>
            <a:endParaRPr lang="en-US" sz="1100" dirty="0"/>
          </a:p>
        </p:txBody>
      </p:sp>
      <p:sp>
        <p:nvSpPr>
          <p:cNvPr id="14" name="Frente 2 riscos"/>
          <p:cNvSpPr txBox="1"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Riscos 4, 5, 6 e 8</a:t>
            </a:r>
            <a:endParaRPr lang="en-US" sz="1000" dirty="0"/>
          </a:p>
        </p:txBody>
      </p:sp>
      <p:sp>
        <p:nvSpPr>
          <p:cNvPr id="15" name="Frente 3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6" name="Frente 3 círculo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17" name="Frente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23260"/>
            <a:ext cx="228600" cy="228600"/>
          </a:xfrm>
          <a:prstGeom prst="rect">
            <a:avLst/>
          </a:prstGeom>
        </p:spPr>
      </p:pic>
      <p:sp>
        <p:nvSpPr>
          <p:cNvPr id="18" name="Frente 3 título"/>
          <p:cNvSpPr txBox="1"/>
          <p:nvPr/>
        </p:nvSpPr>
        <p:spPr>
          <a:xfrm>
            <a:off x="123444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Metas, jornada e pausas</a:t>
            </a:r>
            <a:endParaRPr lang="en-US" sz="1500" dirty="0"/>
          </a:p>
        </p:txBody>
      </p:sp>
      <p:sp>
        <p:nvSpPr>
          <p:cNvPr id="19" name="Frente 3 descrição"/>
          <p:cNvSpPr txBox="1"/>
          <p:nvPr/>
        </p:nvSpPr>
        <p:spPr>
          <a:xfrm>
            <a:off x="640080" y="3639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Revisão de metas e prazos, política de horas extras e turnos, horários com pausas garantidas e monitoradas.</a:t>
            </a:r>
            <a:endParaRPr lang="en-US" sz="1100" dirty="0"/>
          </a:p>
        </p:txBody>
      </p:sp>
      <p:sp>
        <p:nvSpPr>
          <p:cNvPr id="20" name="Frente 3 riscos"/>
          <p:cNvSpPr txBox="1"/>
          <p:nvPr/>
        </p:nvSpPr>
        <p:spPr>
          <a:xfrm>
            <a:off x="64008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F3E"/>
                </a:solidFill>
              </a:rPr>
              <a:t>Riscos 1, 5, 6 e 9</a:t>
            </a:r>
            <a:endParaRPr lang="en-US" sz="1000" dirty="0"/>
          </a:p>
        </p:txBody>
      </p:sp>
      <p:sp>
        <p:nvSpPr>
          <p:cNvPr id="21" name="Frente 4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2" name="Frente 4 círculo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3" name="Frente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223260"/>
            <a:ext cx="228600" cy="228600"/>
          </a:xfrm>
          <a:prstGeom prst="rect">
            <a:avLst/>
          </a:prstGeom>
        </p:spPr>
      </p:pic>
      <p:sp>
        <p:nvSpPr>
          <p:cNvPr id="24" name="Frente 4 título"/>
          <p:cNvSpPr txBox="1"/>
          <p:nvPr/>
        </p:nvSpPr>
        <p:spPr>
          <a:xfrm>
            <a:off x="544068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Rituais de comunicação</a:t>
            </a:r>
            <a:endParaRPr lang="en-US" sz="1500" dirty="0"/>
          </a:p>
        </p:txBody>
      </p:sp>
      <p:sp>
        <p:nvSpPr>
          <p:cNvPr id="25" name="Frente 4 descrição"/>
          <p:cNvSpPr txBox="1"/>
          <p:nvPr/>
        </p:nvSpPr>
        <p:spPr>
          <a:xfrm>
            <a:off x="4846320" y="3639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Reuniões periódicas de acompanhamento, horários definidos para contato com a chefia e atribuições documentadas.</a:t>
            </a:r>
            <a:endParaRPr lang="en-US" sz="1100" dirty="0"/>
          </a:p>
        </p:txBody>
      </p:sp>
      <p:sp>
        <p:nvSpPr>
          <p:cNvPr id="26" name="Frente 4 riscos"/>
          <p:cNvSpPr txBox="1"/>
          <p:nvPr/>
        </p:nvSpPr>
        <p:spPr>
          <a:xfrm>
            <a:off x="484632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3D"/>
                </a:solidFill>
              </a:rPr>
              <a:t>Riscos 1, 2, 3, 7 e 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Cronograma de implementação em 60 dias</a:t>
            </a:r>
            <a:endParaRPr lang="en-US" sz="2600" dirty="0"/>
          </a:p>
        </p:txBody>
      </p:sp>
      <p:sp>
        <p:nvSpPr>
          <p:cNvPr id="3" name="Linha do tempo"/>
          <p:cNvSpPr/>
          <p:nvPr/>
        </p:nvSpPr>
        <p:spPr>
          <a:xfrm>
            <a:off x="822960" y="1783080"/>
            <a:ext cx="7498080" cy="0"/>
          </a:xfrm>
          <a:prstGeom prst="line">
            <a:avLst/>
          </a:prstGeom>
          <a:noFill/>
          <a:ln w="19050">
            <a:solidFill>
              <a:srgbClr val="6C8C8F"/>
            </a:solidFill>
            <a:prstDash val="dash"/>
          </a:ln>
        </p:spPr>
      </p:sp>
      <p:sp>
        <p:nvSpPr>
          <p:cNvPr id="4" name="Fase 1 círculo"/>
          <p:cNvSpPr/>
          <p:nvPr/>
        </p:nvSpPr>
        <p:spPr>
          <a:xfrm>
            <a:off x="1051560" y="1417320"/>
            <a:ext cx="731520" cy="7315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5" name="Fase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00200"/>
            <a:ext cx="365760" cy="365760"/>
          </a:xfrm>
          <a:prstGeom prst="rect">
            <a:avLst/>
          </a:prstGeom>
        </p:spPr>
      </p:pic>
      <p:sp>
        <p:nvSpPr>
          <p:cNvPr id="6" name="Fase 1 período"/>
          <p:cNvSpPr txBox="1"/>
          <p:nvPr/>
        </p:nvSpPr>
        <p:spPr>
          <a:xfrm>
            <a:off x="45720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553D"/>
                </a:solidFill>
              </a:rPr>
              <a:t>DIAS 1 A 10</a:t>
            </a:r>
            <a:endParaRPr lang="en-US" sz="1000" dirty="0"/>
          </a:p>
        </p:txBody>
      </p:sp>
      <p:sp>
        <p:nvSpPr>
          <p:cNvPr id="7" name="Fase 1 título"/>
          <p:cNvSpPr txBox="1"/>
          <p:nvPr/>
        </p:nvSpPr>
        <p:spPr>
          <a:xfrm>
            <a:off x="457200" y="2542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Mobilizar</a:t>
            </a:r>
            <a:endParaRPr lang="en-US" sz="1600" dirty="0"/>
          </a:p>
        </p:txBody>
      </p:sp>
      <p:sp>
        <p:nvSpPr>
          <p:cNvPr id="8" name="Fase 1 descrição"/>
          <p:cNvSpPr txBox="1"/>
          <p:nvPr/>
        </p:nvSpPr>
        <p:spPr>
          <a:xfrm>
            <a:off x="457200" y="2926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Nomear responsáveis por frente, validar prioridades com a direção e comunicar o plano aos empregados.</a:t>
            </a:r>
            <a:endParaRPr lang="en-US" sz="1100" dirty="0"/>
          </a:p>
        </p:txBody>
      </p:sp>
      <p:sp>
        <p:nvSpPr>
          <p:cNvPr id="9" name="Fase 2 círculo"/>
          <p:cNvSpPr/>
          <p:nvPr/>
        </p:nvSpPr>
        <p:spPr>
          <a:xfrm>
            <a:off x="3154680" y="1417320"/>
            <a:ext cx="731520" cy="7315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10" name="Fase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365760" cy="365760"/>
          </a:xfrm>
          <a:prstGeom prst="rect">
            <a:avLst/>
          </a:prstGeom>
        </p:spPr>
      </p:pic>
      <p:sp>
        <p:nvSpPr>
          <p:cNvPr id="11" name="Fase 2 período"/>
          <p:cNvSpPr txBox="1"/>
          <p:nvPr/>
        </p:nvSpPr>
        <p:spPr>
          <a:xfrm>
            <a:off x="256032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9F3E"/>
                </a:solidFill>
              </a:rPr>
              <a:t>DIAS 11 A 25</a:t>
            </a:r>
            <a:endParaRPr lang="en-US" sz="1000" dirty="0"/>
          </a:p>
        </p:txBody>
      </p:sp>
      <p:sp>
        <p:nvSpPr>
          <p:cNvPr id="12" name="Fase 2 título"/>
          <p:cNvSpPr txBox="1"/>
          <p:nvPr/>
        </p:nvSpPr>
        <p:spPr>
          <a:xfrm>
            <a:off x="2560320" y="2542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Prioridade alta</a:t>
            </a:r>
            <a:endParaRPr lang="en-US" sz="1600" dirty="0"/>
          </a:p>
        </p:txBody>
      </p:sp>
      <p:sp>
        <p:nvSpPr>
          <p:cNvPr id="13" name="Fase 2 descrição"/>
          <p:cNvSpPr txBox="1"/>
          <p:nvPr/>
        </p:nvSpPr>
        <p:spPr>
          <a:xfrm>
            <a:off x="2560320" y="2926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Revisar metas e prazos, definir horários de contato com a chefia e documentar atribuições dos cargos.</a:t>
            </a:r>
            <a:endParaRPr lang="en-US" sz="1100" dirty="0"/>
          </a:p>
        </p:txBody>
      </p:sp>
      <p:sp>
        <p:nvSpPr>
          <p:cNvPr id="14" name="Fase 3 círculo"/>
          <p:cNvSpPr/>
          <p:nvPr/>
        </p:nvSpPr>
        <p:spPr>
          <a:xfrm>
            <a:off x="5257800" y="1417320"/>
            <a:ext cx="731520" cy="73152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15" name="Fase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365760" cy="365760"/>
          </a:xfrm>
          <a:prstGeom prst="rect">
            <a:avLst/>
          </a:prstGeom>
        </p:spPr>
      </p:pic>
      <p:sp>
        <p:nvSpPr>
          <p:cNvPr id="16" name="Fase 3 período"/>
          <p:cNvSpPr txBox="1"/>
          <p:nvPr/>
        </p:nvSpPr>
        <p:spPr>
          <a:xfrm>
            <a:off x="466344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A7F8F"/>
                </a:solidFill>
              </a:rPr>
              <a:t>DIAS 26 A 45</a:t>
            </a:r>
            <a:endParaRPr lang="en-US" sz="1000" dirty="0"/>
          </a:p>
        </p:txBody>
      </p:sp>
      <p:sp>
        <p:nvSpPr>
          <p:cNvPr id="17" name="Fase 3 título"/>
          <p:cNvSpPr txBox="1"/>
          <p:nvPr/>
        </p:nvSpPr>
        <p:spPr>
          <a:xfrm>
            <a:off x="4663440" y="2542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Capacitar</a:t>
            </a:r>
            <a:endParaRPr lang="en-US" sz="1600" dirty="0"/>
          </a:p>
        </p:txBody>
      </p:sp>
      <p:sp>
        <p:nvSpPr>
          <p:cNvPr id="18" name="Fase 3 descrição"/>
          <p:cNvSpPr txBox="1"/>
          <p:nvPr/>
        </p:nvSpPr>
        <p:spPr>
          <a:xfrm>
            <a:off x="4663440" y="2926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Treinamentos de lideranças, canal confidencial em operação, política de horas extras, turnos e pausas.</a:t>
            </a:r>
            <a:endParaRPr lang="en-US" sz="1100" dirty="0"/>
          </a:p>
        </p:txBody>
      </p:sp>
      <p:sp>
        <p:nvSpPr>
          <p:cNvPr id="19" name="Fase 4 círculo"/>
          <p:cNvSpPr/>
          <p:nvPr/>
        </p:nvSpPr>
        <p:spPr>
          <a:xfrm>
            <a:off x="7360920" y="1417320"/>
            <a:ext cx="731520" cy="7315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0" name="Fase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00200"/>
            <a:ext cx="365760" cy="365760"/>
          </a:xfrm>
          <a:prstGeom prst="rect">
            <a:avLst/>
          </a:prstGeom>
        </p:spPr>
      </p:pic>
      <p:sp>
        <p:nvSpPr>
          <p:cNvPr id="21" name="Fase 4 período"/>
          <p:cNvSpPr txBox="1"/>
          <p:nvPr/>
        </p:nvSpPr>
        <p:spPr>
          <a:xfrm>
            <a:off x="676656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4C5C"/>
                </a:solidFill>
              </a:rPr>
              <a:t>DIAS 46 A 60</a:t>
            </a:r>
            <a:endParaRPr lang="en-US" sz="1000" dirty="0"/>
          </a:p>
        </p:txBody>
      </p:sp>
      <p:sp>
        <p:nvSpPr>
          <p:cNvPr id="22" name="Fase 4 título"/>
          <p:cNvSpPr txBox="1"/>
          <p:nvPr/>
        </p:nvSpPr>
        <p:spPr>
          <a:xfrm>
            <a:off x="6766560" y="2542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Consolidar</a:t>
            </a:r>
            <a:endParaRPr lang="en-US" sz="1600" dirty="0"/>
          </a:p>
        </p:txBody>
      </p:sp>
      <p:sp>
        <p:nvSpPr>
          <p:cNvPr id="23" name="Fase 4 descrição"/>
          <p:cNvSpPr txBox="1"/>
          <p:nvPr/>
        </p:nvSpPr>
        <p:spPr>
          <a:xfrm>
            <a:off x="6766560" y="2926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Reuniões periódicas em rotina, monitoramento de pausas e jornada, registro de evidências e status de cada medida.</a:t>
            </a:r>
            <a:endParaRPr lang="en-US" sz="1100" dirty="0"/>
          </a:p>
        </p:txBody>
      </p:sp>
      <p:sp>
        <p:nvSpPr>
          <p:cNvPr id="24" name="Faixa governança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5" name="Governança texto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</a:rPr>
              <a:t>Governança: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ponto de controle quinzenal com a direção; atualização do status de cada medida (Aguardando início → Em andamento → Concluída).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Próximos passos</a:t>
            </a:r>
            <a:endParaRPr lang="en-US" sz="3600" dirty="0"/>
          </a:p>
        </p:txBody>
      </p:sp>
      <p:sp>
        <p:nvSpPr>
          <p:cNvPr id="3" name="Passo 1 círculo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4" name="Pas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497330"/>
            <a:ext cx="251460" cy="251460"/>
          </a:xfrm>
          <a:prstGeom prst="rect">
            <a:avLst/>
          </a:prstGeom>
        </p:spPr>
      </p:pic>
      <p:sp>
        <p:nvSpPr>
          <p:cNvPr id="5" name="Passo 1 título"/>
          <p:cNvSpPr txBox="1"/>
          <p:nvPr/>
        </p:nvSpPr>
        <p:spPr>
          <a:xfrm>
            <a:off x="1234440" y="1371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Definir os responsáveis</a:t>
            </a:r>
            <a:endParaRPr lang="en-US" sz="1600" dirty="0"/>
          </a:p>
        </p:txBody>
      </p:sp>
      <p:sp>
        <p:nvSpPr>
          <p:cNvPr id="6" name="Passo 1 descrição"/>
          <p:cNvSpPr txBox="1"/>
          <p:nvPr/>
        </p:nvSpPr>
        <p:spPr>
          <a:xfrm>
            <a:off x="123444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Um nome por frente e por risco de prioridade Alta, ainda nesta reunião.</a:t>
            </a:r>
            <a:endParaRPr lang="en-US" sz="1200" dirty="0"/>
          </a:p>
        </p:txBody>
      </p:sp>
      <p:sp>
        <p:nvSpPr>
          <p:cNvPr id="7" name="Passo 2 círculo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8" name="Pas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274570"/>
            <a:ext cx="251460" cy="251460"/>
          </a:xfrm>
          <a:prstGeom prst="rect">
            <a:avLst/>
          </a:prstGeom>
        </p:spPr>
      </p:pic>
      <p:sp>
        <p:nvSpPr>
          <p:cNvPr id="9" name="Passo 2 título"/>
          <p:cNvSpPr txBox="1"/>
          <p:nvPr/>
        </p:nvSpPr>
        <p:spPr>
          <a:xfrm>
            <a:off x="1234440" y="2148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Validar prioridades e cronograma</a:t>
            </a:r>
            <a:endParaRPr lang="en-US" sz="1600" dirty="0"/>
          </a:p>
        </p:txBody>
      </p:sp>
      <p:sp>
        <p:nvSpPr>
          <p:cNvPr id="10" name="Passo 2 descrição"/>
          <p:cNvSpPr txBox="1"/>
          <p:nvPr/>
        </p:nvSpPr>
        <p:spPr>
          <a:xfrm>
            <a:off x="1234440" y="2404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Aprovar a ordem proposta ou ajustá-la com a direção.</a:t>
            </a:r>
            <a:endParaRPr lang="en-US" sz="1200" dirty="0"/>
          </a:p>
        </p:txBody>
      </p:sp>
      <p:sp>
        <p:nvSpPr>
          <p:cNvPr id="11" name="Passo 3 círculo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12" name="Pas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051810"/>
            <a:ext cx="251460" cy="251460"/>
          </a:xfrm>
          <a:prstGeom prst="rect">
            <a:avLst/>
          </a:prstGeom>
        </p:spPr>
      </p:pic>
      <p:sp>
        <p:nvSpPr>
          <p:cNvPr id="13" name="Passo 3 título"/>
          <p:cNvSpPr txBox="1"/>
          <p:nvPr/>
        </p:nvSpPr>
        <p:spPr>
          <a:xfrm>
            <a:off x="1234440" y="2926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Comunicar aos empregados</a:t>
            </a:r>
            <a:endParaRPr lang="en-US" sz="1600" dirty="0"/>
          </a:p>
        </p:txBody>
      </p:sp>
      <p:sp>
        <p:nvSpPr>
          <p:cNvPr id="14" name="Passo 3 descrição"/>
          <p:cNvSpPr txBox="1"/>
          <p:nvPr/>
        </p:nvSpPr>
        <p:spPr>
          <a:xfrm>
            <a:off x="1234440" y="3182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Devolver os resultados à equipe e apresentar as medidas.</a:t>
            </a:r>
            <a:endParaRPr lang="en-US" sz="1200" dirty="0"/>
          </a:p>
        </p:txBody>
      </p:sp>
      <p:sp>
        <p:nvSpPr>
          <p:cNvPr id="15" name="Passo 4 círculo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pic>
        <p:nvPicPr>
          <p:cNvPr id="16" name="Pass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3829050"/>
            <a:ext cx="251460" cy="251460"/>
          </a:xfrm>
          <a:prstGeom prst="rect">
            <a:avLst/>
          </a:prstGeom>
        </p:spPr>
      </p:pic>
      <p:sp>
        <p:nvSpPr>
          <p:cNvPr id="17" name="Passo 4 título"/>
          <p:cNvSpPr txBox="1"/>
          <p:nvPr/>
        </p:nvSpPr>
        <p:spPr>
          <a:xfrm>
            <a:off x="1234440" y="3703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Monitorar e reavaliar</a:t>
            </a:r>
            <a:endParaRPr lang="en-US" sz="1600" dirty="0"/>
          </a:p>
        </p:txBody>
      </p:sp>
      <p:sp>
        <p:nvSpPr>
          <p:cNvPr id="18" name="Passo 4 descrição"/>
          <p:cNvSpPr txBox="1"/>
          <p:nvPr/>
        </p:nvSpPr>
        <p:spPr>
          <a:xfrm>
            <a:off x="123444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Status quinzenal, evidências em 60 dias e nova avaliação ao fim da validade de 12 meses.</a:t>
            </a:r>
            <a:endParaRPr lang="en-US" sz="1200" dirty="0"/>
          </a:p>
        </p:txBody>
      </p:sp>
      <p:sp>
        <p:nvSpPr>
          <p:cNvPr id="19" name="Fonte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Fonte: Resultados da Análise Psicossocial, CREA - RR, emitido em 12/05/2026 · ISTAS21-BR (NR-01)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-RR Psicossocial">
  <a:themeElements>
    <a:clrScheme name="CREA-RR Psicossocial">
      <a:dk1>
        <a:srgbClr val="1B2A2E"/>
      </a:dk1>
      <a:lt1>
        <a:srgbClr val="FFFFFF"/>
      </a:lt1>
      <a:dk2>
        <a:srgbClr val="0F4C5C"/>
      </a:dk2>
      <a:lt2>
        <a:srgbClr val="EEF4F3"/>
      </a:lt2>
      <a:accent1>
        <a:srgbClr val="2A7F8F"/>
      </a:accent1>
      <a:accent2>
        <a:srgbClr val="E09F3E"/>
      </a:accent2>
      <a:accent3>
        <a:srgbClr val="3E8E5A"/>
      </a:accent3>
      <a:accent4>
        <a:srgbClr val="C8553D"/>
      </a:accent4>
      <a:accent5>
        <a:srgbClr val="6C8C8F"/>
      </a:accent5>
      <a:accent6>
        <a:srgbClr val="5B8E7D"/>
      </a:accent6>
      <a:hlink>
        <a:srgbClr val="2A7F8F"/>
      </a:hlink>
      <a:folHlink>
        <a:srgbClr val="6C8C8F"/>
      </a:folHlink>
    </a:clrScheme>
    <a:fontScheme name="CREA-RR Psicossoc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 – Riscos Psicossociais – CREA-RR</dc:title>
  <dc:subject>PptxGenJS Presentation</dc:subject>
  <dc:creator>Proteção RR</dc:creator>
  <cp:lastModifiedBy>Proteção RR</cp:lastModifiedBy>
  <cp:revision>1</cp:revision>
  <dcterms:created xsi:type="dcterms:W3CDTF">2026-10-27T14:28:53Z</dcterms:created>
  <dcterms:modified xsi:type="dcterms:W3CDTF">2026-10-27T14:28:53Z</dcterms:modified>
</cp:coreProperties>
</file>